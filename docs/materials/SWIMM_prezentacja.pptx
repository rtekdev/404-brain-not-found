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twarcie" id="{4e284d01-a174-c265-86ac-96a48b55d690}">
          <p14:sldIdLst>
            <p14:sldId id="256"/>
          </p14:sldIdLst>
        </p14:section>
        <p14:section name="Problem i wartość" id="{b928c2ef-a47a-255e-2a23-8a83d6a6164c}">
          <p14:sldIdLst>
            <p14:sldId id="257"/>
            <p14:sldId id="258"/>
          </p14:sldIdLst>
        </p14:section>
        <p14:section name="Rozwiązanie" id="{a26ea62a-baba-033c-c1f1-e95d4b3a9f11}">
          <p14:sldIdLst>
            <p14:sldId id="259"/>
            <p14:sldId id="260"/>
            <p14:sldId id="261"/>
          </p14:sldIdLst>
        </p14:section>
        <p14:section name="Rzeczywistość" id="{02547ae0-2682-a8e1-8121-28d3b4faef3d}">
          <p14:sldIdLst>
            <p14:sldId id="262"/>
            <p14:sldId id="263"/>
          </p14:sldIdLst>
        </p14:section>
        <p14:section name="Następny krok" id="{48ad1e41-45cd-7539-6f35-4d9283bf8f86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 OTWARCIE
(Jeśli puszczamy film — zaraz po nim, bez zapowiadania.)
"Jesteśmy 404 Brain Not Found, a to jest SWIMM — System Wspierania i Monitorowania Miasta.
Jedna mapa miasta, na której urząd widzi każde zgłoszenie mieszkańca i każdy sygnał z kamer — a to, co najpilniejsze, jest zawsze na wierzchu."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[0:15–0:40] PROBLEM + UŻYTKOWNIK (kontekst → użytkownik → tarcie → skutek)
"Podgórze. Na Zabłociu z jezdni cieknie woda. Jedna osoba dzwoni, druga pisze SMS, trzecia wrzuca zdjęcie do sieci. Starsza pani bez smartfona nie zgłasza wcale.
Dyspozytor w urzędzie dostaje to w kawałkach, bez mapy i bez kolejności. A pomiary sieci od dawna pokazują straty wody w tej dzielnicy — tylko nikt ich nie łączy ze zgłoszeniami.
Skutek: pilne sprawy czekają obok drobnych, a miasto traci wodę i czas.
Budujemy dla trzech osób: mieszkańca, dyspozytora i jednostki, która jedzie na miejsce."
PAUZA po "skutek".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[0:40–1:00] WARTOŚĆ + DOWÓD (drabina "i co z tego?")
"Funkcja to jedna mapa ze wszystkimi kanałami. Ale chodzi o to, co ona zmienia: zgłoszenie samo dostaje kategorię, dzielnicę, jednostkę i priorytet — więc dyspozytor zaczyna od najpilniejszego, a nie od najstarszego.
Efekt: szybsza reakcja, mniejsze straty wody, bezpieczniejsza ulica.
Nie podajemy wymyślonych procentów. W pilotażu zmierzymy trzy rzeczy: czas do przekazania jednostce, odsetek zgłoszeń przypisanych bez poprawek i straty wody w dzielnicy."
PAUZA po "efekt".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[1:00–1:20] ROZWIĄZANIE — tylko główny przepływ (poziom koncepcji)
"Mieszkaniec zgłasza, jak umie: czatem, formularzem, a docelowo telefonem, SMS-em i Telegramem. Kamery miejskie zgłaszają same.
SWIMM rozpoznaje kategorię, przypisuje dzielnicę i jednostkę, nadaje priorytet i łączy zgłoszenie z pomiarami sieci.
Dyspozytor widzi to na jednej mapie, jednostka dostaje zadanie z kontekstem, a gdy prowadzi 112 — miasto nie dubluje wezwania."
Wskaż: zielone "w demo" vs "następny krok" — mówimy uczciwie, co działa.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[DEMO NA ŻYWO ok. 1:30 — albo ten slajd jako plan awaryjny]
Kroki 1–5 ze SCENARIUSZ_DEMO.md: mapa miasta → D13 Podgórze → Zasoby/Woda → propozycja D07→D13 → Zastosuj.
"Dyspozytor nie przegląda setek zgłoszeń — widzi, która dzielnica płonie.
Zgłoszenia mieszkańców i pomiary sieci mówią to samo — to nie przypadek, to wyciek.
Zanim ekipa naprawi rurę, kierujemy wodę z Bielan, gdzie jest rezerwa. System od razu liczy koszt i zysk."
Uczciwie: liczniki są pokazowe, wycena orientacyjna.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[DEMO NA ŻYWO — kroki 7–9 ze scenariusza: Symuluj alarm → miniatura nagrania → Szczegóły i kroki → Powiadom Straż Miejską]
"Kamera zauważa człowieka, który zasłabł na ławce, zanim ktokolwiek zadzwoni.
Pogotowie już jedzie — widzimy status z 112, więc nie dublujemy wezwania.
SWIMM pokazuje nagranie klatka po klatce i podpowiada, co miasto może zrobić do przyjazdu karetki: patrol z AED, dojazd dla ratowników."
Uczciwie: alarm w demo jest symulowany, wykrywanie z obrazu to etap walidacji.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[1:20–1:40] ARCHITEKTURA + JEDEN KOMPROMIS
"Nowe miasto startuje bez projektu IT: skrypt pobiera z OpenStreetMap granicę i dzielnice — tak dodaliśmy Kielce.
Zgłoszenia trafiają do PostgreSQL, a panel dostaje je na żywo przez NOTIFY i strumień SSE.
Świadoma decyzja: priorytet liczą reguły, nie model językowy. Dzięki temu są przewidywalne, wyjaśnialne i mamy na nie 63 testy jednostkowe. Ceną jest gorsze rozumienie nietypowych opisów — dlatego model językowy wchodzi w kolejnym kroku za tym samym interfejsem, a priorytet krytyczny zawsze zatwierdza człowiek."
Pytania techniczne (Q&amp;A): turf zamiast PostGIS (18 poligonów), przekierowania tylko w sesji, liczniki pokazowe.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 pitchu 2-minutowym: jedno zdanie o ryzyku; pełny slajd na Q&amp;A i w PDF]
"Działa end-to-end: mapa dzielnic, zgłoszenia na żywo, planer zasobów, alarm z kamery i czat.
Zakładamy, że miasto da dostęp do kamer i liczników — to sprawdzimy w pilotażu, razem z RODO i integracją z 112.
Największe ryzyko: AI źle oceni priorytet. Dlatego AI porządkuje i uzasadnia, a decyzję podejmuje człowiek; trafność porównamy z decyzjami dyspozytorów."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[1:40–2:00] NASTĘPNY KROK + PROŚBA — zwolnij, pauza przed prośbą
"Prototyp działa. Następny krok to nie kolejne funkcje, tylko pilotaż: jedna dzielnica, jedna jednostka — wodociągi — trzy miesiące i trzy miary, o których mówiliśmy.
(pauza)
Prosimy o jedno: pomóżcie nam dotrzeć do urzędu albo dzielnicy, która sprawdzi SWIMM na prawdziwych zgłoszeniach. Dziękujemy."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do zgłoszenia PDF i na pytania — w pitchu nie omawiamy go, chyba że jury zapyta o AI.
Regulamin wymaga ujawnienia znaczącego użycia AI, zewnętrznych API, danych i bibliotek oraz odróżnienia pracy z hackathonu od wcześniejszej.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kładka">
    <p:bg>
      <p:bgPr>
        <a:solidFill>
          <a:srgbClr val="0F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ść">
    <p:bg>
      <p:bgPr>
        <a:solidFill>
          <a:srgbClr val="0F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SWIMM · 404 Brain Not Found · HackYeah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WIMM — jedna mapa miasta, każde zgłoszenie, najpilniejsze na wierzchu. Mapa Krakowa z dzielnicami i zgłoszeniam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Zgłoszenie mieszkańca ginie, zanim trafi do właściwej jednostki</a:t>
            </a:r>
            <a:endParaRPr lang="en-US" sz="3000" dirty="0"/>
          </a:p>
        </p:txBody>
      </p:sp>
      <p:sp>
        <p:nvSpPr>
          <p:cNvPr id="3" name="problem-card"/>
          <p:cNvSpPr/>
          <p:nvPr/>
        </p:nvSpPr>
        <p:spPr>
          <a:xfrm>
            <a:off x="548640" y="141732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DZIŚ, W KRAKOWSKIM PODGÓRZU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Na Zabłociu z jezdni cieknie woda.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Jedna osoba dzwoni do urzędu, druga pisze SMS, trzecia wrzuca zdjęcie do sieci. Starsza pani nie ma smartfona — nie zgłasza wcale.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Dyspozytor dostaje to rozproszone, bez mapy i bez kolejności.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Pomiary sieci od dawna pokazują straty wody w tej dzielnicy, ale nikt nie łączy ich ze zgłoszeniami.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Skutek: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pilne sprawy czekają w kolejce obok drobnych, a miasto traci wodę i czas.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KTO MA TEN PROBLEM</a:t>
            </a:r>
            <a:endParaRPr lang="en-US" sz="1100" dirty="0"/>
          </a:p>
        </p:txBody>
      </p:sp>
      <p:sp>
        <p:nvSpPr>
          <p:cNvPr id="7" name="user-0"/>
          <p:cNvSpPr/>
          <p:nvPr/>
        </p:nvSpPr>
        <p:spPr>
          <a:xfrm>
            <a:off x="6583680" y="1828800"/>
            <a:ext cx="5056632" cy="1252728"/>
          </a:xfrm>
          <a:prstGeom prst="roundRect">
            <a:avLst>
              <a:gd name="adj" fmla="val 8759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280" y="2130552"/>
            <a:ext cx="640080" cy="64008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0" y="229057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80960" y="2029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Mieszkaniec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23957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Zgłasza tak, jak umie: telefonem, SMS-em, w czacie. Także bez smartfona.</a:t>
            </a:r>
            <a:endParaRPr lang="en-US" sz="1400" dirty="0"/>
          </a:p>
        </p:txBody>
      </p:sp>
      <p:sp>
        <p:nvSpPr>
          <p:cNvPr id="12" name="user-1"/>
          <p:cNvSpPr/>
          <p:nvPr/>
        </p:nvSpPr>
        <p:spPr>
          <a:xfrm>
            <a:off x="6583680" y="3264408"/>
            <a:ext cx="5056632" cy="1252728"/>
          </a:xfrm>
          <a:prstGeom prst="roundRect">
            <a:avLst>
              <a:gd name="adj" fmla="val 8759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3566160"/>
            <a:ext cx="640080" cy="64008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37261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8096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Dyspozytor urzędu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38313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Musi wiedzieć, co jest najpilniejsze teraz — w całym mieście.</a:t>
            </a:r>
            <a:endParaRPr lang="en-US" sz="1400" dirty="0"/>
          </a:p>
        </p:txBody>
      </p:sp>
      <p:sp>
        <p:nvSpPr>
          <p:cNvPr id="17" name="user-2"/>
          <p:cNvSpPr/>
          <p:nvPr/>
        </p:nvSpPr>
        <p:spPr>
          <a:xfrm>
            <a:off x="6583680" y="4700016"/>
            <a:ext cx="5056632" cy="1252728"/>
          </a:xfrm>
          <a:prstGeom prst="roundRect">
            <a:avLst>
              <a:gd name="adj" fmla="val 8759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12280" y="5001768"/>
            <a:ext cx="640080" cy="64008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516178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80960" y="49011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Jednostka miejska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680960" y="52669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Wodociągi, zieleń, drogi, Straż Miejska: dostaje zadanie z miejscem i kontekstem.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Od funkcji do efektu, który miasto może zmierzyć</a:t>
            </a:r>
            <a:endParaRPr lang="en-US" sz="3000" dirty="0"/>
          </a:p>
        </p:txBody>
      </p:sp>
      <p:sp>
        <p:nvSpPr>
          <p:cNvPr id="3" name="ladder-0"/>
          <p:cNvSpPr/>
          <p:nvPr/>
        </p:nvSpPr>
        <p:spPr>
          <a:xfrm>
            <a:off x="548640" y="1508760"/>
            <a:ext cx="2542032" cy="2011680"/>
          </a:xfrm>
          <a:prstGeom prst="roundRect">
            <a:avLst>
              <a:gd name="adj" fmla="val 5455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</a:rPr>
              <a:t>FUNKCJA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Wszystkie kanały i kamery na jednej mapie dzielnic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377440"/>
            <a:ext cx="274320" cy="274320"/>
          </a:xfrm>
          <a:prstGeom prst="rect">
            <a:avLst/>
          </a:prstGeom>
        </p:spPr>
      </p:pic>
      <p:sp>
        <p:nvSpPr>
          <p:cNvPr id="7" name="ladder-1"/>
          <p:cNvSpPr/>
          <p:nvPr/>
        </p:nvSpPr>
        <p:spPr>
          <a:xfrm>
            <a:off x="3392424" y="1508760"/>
            <a:ext cx="2542032" cy="2011680"/>
          </a:xfrm>
          <a:prstGeom prst="roundRect">
            <a:avLst>
              <a:gd name="adj" fmla="val 5455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21024" y="17373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</a:rPr>
              <a:t>ZDOLNOŚĆ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621024" y="210312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Zgłoszenie samo dostaje kategorię, dzielnicę, jednostkę i priorytet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2377440"/>
            <a:ext cx="274320" cy="274320"/>
          </a:xfrm>
          <a:prstGeom prst="rect">
            <a:avLst/>
          </a:prstGeom>
        </p:spPr>
      </p:pic>
      <p:sp>
        <p:nvSpPr>
          <p:cNvPr id="11" name="ladder-2"/>
          <p:cNvSpPr/>
          <p:nvPr/>
        </p:nvSpPr>
        <p:spPr>
          <a:xfrm>
            <a:off x="6236208" y="1508760"/>
            <a:ext cx="2542032" cy="2011680"/>
          </a:xfrm>
          <a:prstGeom prst="roundRect">
            <a:avLst>
              <a:gd name="adj" fmla="val 5455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64808" y="17373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</a:rPr>
              <a:t>ZACHOWANIE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10312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Dyspozytor zaczyna od najpilniejszego, a nie od najstarszego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2377440"/>
            <a:ext cx="274320" cy="274320"/>
          </a:xfrm>
          <a:prstGeom prst="rect">
            <a:avLst/>
          </a:prstGeom>
        </p:spPr>
      </p:pic>
      <p:sp>
        <p:nvSpPr>
          <p:cNvPr id="15" name="ladder-3"/>
          <p:cNvSpPr/>
          <p:nvPr/>
        </p:nvSpPr>
        <p:spPr>
          <a:xfrm>
            <a:off x="9079992" y="1508760"/>
            <a:ext cx="2542032" cy="2011680"/>
          </a:xfrm>
          <a:prstGeom prst="roundRect">
            <a:avLst>
              <a:gd name="adj" fmla="val 5455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308592" y="17373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3F5E"/>
                </a:solidFill>
              </a:rPr>
              <a:t>EFEKT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9308592" y="210312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Szybsza reakcja, mniejsze straty wody, bezpieczniejsza ulica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JAK SPRAWDZIMY TO W PILOTAŻU</a:t>
            </a:r>
            <a:endParaRPr lang="en-US" sz="1100" dirty="0"/>
          </a:p>
        </p:txBody>
      </p:sp>
      <p:sp>
        <p:nvSpPr>
          <p:cNvPr id="19" name="metric-0"/>
          <p:cNvSpPr/>
          <p:nvPr/>
        </p:nvSpPr>
        <p:spPr>
          <a:xfrm>
            <a:off x="548640" y="4343400"/>
            <a:ext cx="3533546" cy="1600200"/>
          </a:xfrm>
          <a:prstGeom prst="roundRect">
            <a:avLst>
              <a:gd name="adj" fmla="val 6857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617720"/>
            <a:ext cx="548640" cy="54864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548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572000"/>
            <a:ext cx="23448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Czas od zgłoszenia do przekazania jednostce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303520"/>
            <a:ext cx="2344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przed i po wdrożeniu, w jednej dzielnicy</a:t>
            </a:r>
            <a:endParaRPr lang="en-US" sz="1200" dirty="0"/>
          </a:p>
        </p:txBody>
      </p:sp>
      <p:sp>
        <p:nvSpPr>
          <p:cNvPr id="24" name="metric-1"/>
          <p:cNvSpPr/>
          <p:nvPr/>
        </p:nvSpPr>
        <p:spPr>
          <a:xfrm>
            <a:off x="4329074" y="4343400"/>
            <a:ext cx="3533546" cy="1600200"/>
          </a:xfrm>
          <a:prstGeom prst="roundRect">
            <a:avLst>
              <a:gd name="adj" fmla="val 6857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7674" y="4617720"/>
            <a:ext cx="548640" cy="54864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834" y="47548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89194" y="4572000"/>
            <a:ext cx="23448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Odsetek zgłoszeń przypisanych bez poprawek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289194" y="5303520"/>
            <a:ext cx="2344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trafność kategorii, dzielnicy i jednostki</a:t>
            </a:r>
            <a:endParaRPr lang="en-US" sz="1200" dirty="0"/>
          </a:p>
        </p:txBody>
      </p:sp>
      <p:sp>
        <p:nvSpPr>
          <p:cNvPr id="29" name="metric-2"/>
          <p:cNvSpPr/>
          <p:nvPr/>
        </p:nvSpPr>
        <p:spPr>
          <a:xfrm>
            <a:off x="8109509" y="4343400"/>
            <a:ext cx="3533546" cy="1600200"/>
          </a:xfrm>
          <a:prstGeom prst="roundRect">
            <a:avLst>
              <a:gd name="adj" fmla="val 6857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8109" y="4617720"/>
            <a:ext cx="548640" cy="54864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47548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69629" y="4572000"/>
            <a:ext cx="23448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Straty wody w dzielnicy pilotażowej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9069629" y="5303520"/>
            <a:ext cx="2344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dane z liczników wodociągów, miesiąc do miesiąca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Mieszkaniec zgłasza, jak umie. Miasto widzi, co najpilniejsze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KANAŁY</a:t>
            </a:r>
            <a:endParaRPr lang="en-US" sz="1100" dirty="0"/>
          </a:p>
        </p:txBody>
      </p:sp>
      <p:sp>
        <p:nvSpPr>
          <p:cNvPr id="4" name="chan-0"/>
          <p:cNvSpPr/>
          <p:nvPr/>
        </p:nvSpPr>
        <p:spPr>
          <a:xfrm>
            <a:off x="548640" y="1737360"/>
            <a:ext cx="3108960" cy="585216"/>
          </a:xfrm>
          <a:prstGeom prst="roundRect">
            <a:avLst>
              <a:gd name="adj" fmla="val 18750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928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8928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Telefon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91109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następny krok</a:t>
            </a:r>
            <a:endParaRPr lang="en-US" sz="900" dirty="0"/>
          </a:p>
        </p:txBody>
      </p:sp>
      <p:sp>
        <p:nvSpPr>
          <p:cNvPr id="8" name="chan-1"/>
          <p:cNvSpPr/>
          <p:nvPr/>
        </p:nvSpPr>
        <p:spPr>
          <a:xfrm>
            <a:off x="548640" y="2450592"/>
            <a:ext cx="3108960" cy="585216"/>
          </a:xfrm>
          <a:prstGeom prst="roundRect">
            <a:avLst>
              <a:gd name="adj" fmla="val 18750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606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651760" y="26243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następny krok</a:t>
            </a:r>
            <a:endParaRPr lang="en-US" sz="900" dirty="0"/>
          </a:p>
        </p:txBody>
      </p:sp>
      <p:sp>
        <p:nvSpPr>
          <p:cNvPr id="12" name="chan-2"/>
          <p:cNvSpPr/>
          <p:nvPr/>
        </p:nvSpPr>
        <p:spPr>
          <a:xfrm>
            <a:off x="548640" y="3163824"/>
            <a:ext cx="3108960" cy="585216"/>
          </a:xfrm>
          <a:prstGeom prst="roundRect">
            <a:avLst>
              <a:gd name="adj" fmla="val 18750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3192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Telegram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651760" y="3337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następny krok</a:t>
            </a:r>
            <a:endParaRPr lang="en-US" sz="900" dirty="0"/>
          </a:p>
        </p:txBody>
      </p:sp>
      <p:sp>
        <p:nvSpPr>
          <p:cNvPr id="16" name="chan-3"/>
          <p:cNvSpPr/>
          <p:nvPr/>
        </p:nvSpPr>
        <p:spPr>
          <a:xfrm>
            <a:off x="548640" y="3877056"/>
            <a:ext cx="3108960" cy="585216"/>
          </a:xfrm>
          <a:prstGeom prst="roundRect">
            <a:avLst>
              <a:gd name="adj" fmla="val 18750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3250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40325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Czat AI na stronie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2651760" y="40507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2"/>
                </a:solidFill>
              </a:rPr>
              <a:t>w demo</a:t>
            </a:r>
            <a:endParaRPr lang="en-US" sz="900" dirty="0"/>
          </a:p>
        </p:txBody>
      </p:sp>
      <p:sp>
        <p:nvSpPr>
          <p:cNvPr id="20" name="chan-4"/>
          <p:cNvSpPr/>
          <p:nvPr/>
        </p:nvSpPr>
        <p:spPr>
          <a:xfrm>
            <a:off x="548640" y="4590288"/>
            <a:ext cx="3108960" cy="585216"/>
          </a:xfrm>
          <a:prstGeom prst="roundRect">
            <a:avLst>
              <a:gd name="adj" fmla="val 18750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4573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47457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Formularz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2651760" y="4764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2"/>
                </a:solidFill>
              </a:rPr>
              <a:t>w demo</a:t>
            </a:r>
            <a:endParaRPr lang="en-US" sz="900" dirty="0"/>
          </a:p>
        </p:txBody>
      </p:sp>
      <p:sp>
        <p:nvSpPr>
          <p:cNvPr id="24" name="chan-5"/>
          <p:cNvSpPr/>
          <p:nvPr/>
        </p:nvSpPr>
        <p:spPr>
          <a:xfrm>
            <a:off x="548640" y="5303520"/>
            <a:ext cx="3108960" cy="585216"/>
          </a:xfrm>
          <a:prstGeom prst="roundRect">
            <a:avLst>
              <a:gd name="adj" fmla="val 18750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45896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54589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Kamery miejskie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2651760" y="54772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2"/>
                </a:solidFill>
              </a:rPr>
              <a:t>w demo</a:t>
            </a:r>
            <a:endParaRPr lang="en-US" sz="9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3611880"/>
            <a:ext cx="411480" cy="411480"/>
          </a:xfrm>
          <a:prstGeom prst="rect">
            <a:avLst/>
          </a:prstGeom>
        </p:spPr>
      </p:pic>
      <p:sp>
        <p:nvSpPr>
          <p:cNvPr id="29" name="core"/>
          <p:cNvSpPr/>
          <p:nvPr/>
        </p:nvSpPr>
        <p:spPr>
          <a:xfrm>
            <a:off x="4434840" y="1737360"/>
            <a:ext cx="3657600" cy="4169664"/>
          </a:xfrm>
          <a:prstGeom prst="roundRect">
            <a:avLst>
              <a:gd name="adj" fmla="val 3000"/>
            </a:avLst>
          </a:prstGeom>
          <a:solidFill>
            <a:srgbClr val="1D1A33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2011680"/>
            <a:ext cx="411480" cy="41148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25780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SWIMM</a:t>
            </a:r>
            <a:endParaRPr lang="en-US" sz="24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2734056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074920" y="2697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Rozpoznaje kategorię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5074920" y="3008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woda, drogi, zieleń, bezpieczeństwo…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3511296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074920" y="3474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Przypisuje dzielnicę i jednostkę</a:t>
            </a:r>
            <a:endParaRPr lang="en-US" sz="1500" dirty="0"/>
          </a:p>
        </p:txBody>
      </p:sp>
      <p:sp>
        <p:nvSpPr>
          <p:cNvPr id="37" name="Text 25"/>
          <p:cNvSpPr txBox="1"/>
          <p:nvPr/>
        </p:nvSpPr>
        <p:spPr>
          <a:xfrm>
            <a:off x="5074920" y="37856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z geometrii mapy, bez wpisywania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4288536"/>
            <a:ext cx="237744" cy="237744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074920" y="4251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Nadaje priorytet</a:t>
            </a:r>
            <a:endParaRPr lang="en-US" sz="1500" dirty="0"/>
          </a:p>
        </p:txBody>
      </p:sp>
      <p:sp>
        <p:nvSpPr>
          <p:cNvPr id="40" name="Text 27"/>
          <p:cNvSpPr txBox="1"/>
          <p:nvPr/>
        </p:nvSpPr>
        <p:spPr>
          <a:xfrm>
            <a:off x="5074920" y="4562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 układa miasto od najpilniejszej dzielnicy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5065776"/>
            <a:ext cx="237744" cy="237744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5074920" y="5029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Łączy zgłoszenia z pomiarami</a:t>
            </a:r>
            <a:endParaRPr lang="en-US" sz="1500" dirty="0"/>
          </a:p>
        </p:txBody>
      </p:sp>
      <p:sp>
        <p:nvSpPr>
          <p:cNvPr id="43" name="Text 29"/>
          <p:cNvSpPr txBox="1"/>
          <p:nvPr/>
        </p:nvSpPr>
        <p:spPr>
          <a:xfrm>
            <a:off x="5074920" y="5340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woda, energia, odpady, ciepło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5320" y="3611880"/>
            <a:ext cx="411480" cy="411480"/>
          </a:xfrm>
          <a:prstGeom prst="rect">
            <a:avLst/>
          </a:prstGeom>
        </p:spPr>
      </p:pic>
      <p:sp>
        <p:nvSpPr>
          <p:cNvPr id="45" name="out-0"/>
          <p:cNvSpPr/>
          <p:nvPr/>
        </p:nvSpPr>
        <p:spPr>
          <a:xfrm>
            <a:off x="8869680" y="1737360"/>
            <a:ext cx="2770632" cy="1243584"/>
          </a:xfrm>
          <a:prstGeom prst="roundRect">
            <a:avLst>
              <a:gd name="adj" fmla="val 8824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0848" y="1938528"/>
            <a:ext cx="310896" cy="310896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9491472" y="1920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Dyspozytor</a:t>
            </a:r>
            <a:endParaRPr lang="en-US" sz="1500" dirty="0"/>
          </a:p>
        </p:txBody>
      </p:sp>
      <p:sp>
        <p:nvSpPr>
          <p:cNvPr id="48" name="Text 32"/>
          <p:cNvSpPr txBox="1"/>
          <p:nvPr/>
        </p:nvSpPr>
        <p:spPr>
          <a:xfrm>
            <a:off x="9070848" y="23408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mapa /centrum: ranking dzielnic, alarmy, zasoby</a:t>
            </a:r>
            <a:endParaRPr lang="en-US" sz="1200" dirty="0"/>
          </a:p>
        </p:txBody>
      </p:sp>
      <p:sp>
        <p:nvSpPr>
          <p:cNvPr id="49" name="out-1"/>
          <p:cNvSpPr/>
          <p:nvPr/>
        </p:nvSpPr>
        <p:spPr>
          <a:xfrm>
            <a:off x="8869680" y="3200400"/>
            <a:ext cx="2770632" cy="1243584"/>
          </a:xfrm>
          <a:prstGeom prst="roundRect">
            <a:avLst>
              <a:gd name="adj" fmla="val 8824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70848" y="3401568"/>
            <a:ext cx="310896" cy="310896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9491472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Jednostki miejskie</a:t>
            </a:r>
            <a:endParaRPr lang="en-US" sz="1500" dirty="0"/>
          </a:p>
        </p:txBody>
      </p:sp>
      <p:sp>
        <p:nvSpPr>
          <p:cNvPr id="52" name="Text 35"/>
          <p:cNvSpPr txBox="1"/>
          <p:nvPr/>
        </p:nvSpPr>
        <p:spPr>
          <a:xfrm>
            <a:off x="9070848" y="38039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zadanie z miejscem, priorytetem i krokami</a:t>
            </a:r>
            <a:endParaRPr lang="en-US" sz="1200" dirty="0"/>
          </a:p>
        </p:txBody>
      </p:sp>
      <p:sp>
        <p:nvSpPr>
          <p:cNvPr id="53" name="out-2"/>
          <p:cNvSpPr/>
          <p:nvPr/>
        </p:nvSpPr>
        <p:spPr>
          <a:xfrm>
            <a:off x="8869680" y="4663440"/>
            <a:ext cx="2770632" cy="1243584"/>
          </a:xfrm>
          <a:prstGeom prst="roundRect">
            <a:avLst>
              <a:gd name="adj" fmla="val 8824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70848" y="4864608"/>
            <a:ext cx="310896" cy="310896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9491472" y="4846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Służby 112</a:t>
            </a:r>
            <a:endParaRPr lang="en-US" sz="1500" dirty="0"/>
          </a:p>
        </p:txBody>
      </p:sp>
      <p:sp>
        <p:nvSpPr>
          <p:cNvPr id="56" name="Text 38"/>
          <p:cNvSpPr txBox="1"/>
          <p:nvPr/>
        </p:nvSpPr>
        <p:spPr>
          <a:xfrm>
            <a:off x="9070848" y="526694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status „przejęte przez 112” — miasto nie dubluje wezwań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Wyciek w Podgórzu: zgłoszenia i pomiary mówią to samo</a:t>
            </a:r>
            <a:endParaRPr lang="en-US" sz="3000" dirty="0"/>
          </a:p>
        </p:txBody>
      </p:sp>
      <p:pic>
        <p:nvPicPr>
          <p:cNvPr id="3" name="Image 0" descr="Widok Zasoby w SWIMM: przepływy wody z dzielnic do centrali i planer przekierowania D07 → D13 z bilansem +228 zł/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394011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7863840" cy="3940111"/>
          </a:xfrm>
          <a:prstGeom prst="rect">
            <a:avLst/>
          </a:prstGeom>
          <a:ln w="12700">
            <a:solidFill>
              <a:srgbClr val="2C303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3716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28116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Ranking dzielnic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17556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D13 Podgórze na górze listy: 4 otwarte zgłoszenia, 1 krytyczne.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6974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łączy fakty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3081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Straty w sieci 21% + zgłoszony wyciek z jezdni = prawdopodobna awaria.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40233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281160" y="4041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Decyzja z wyceną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440740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Dyspozytor kieruje wodę z D07 Zwierzyniec. System liczy zyski, straty przesyłu i bilans.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+228 zł/h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5532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bilans przekierowania D07 → D13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5852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Dane pokazowe; wycena orientacyjna (6,5 zł/m³, straty 1,5%/km).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Kamera widzi zasłabnięcie, zanim ktokolwiek zadzwoni</a:t>
            </a:r>
            <a:endParaRPr lang="en-US" sz="3000" dirty="0"/>
          </a:p>
        </p:txBody>
      </p:sp>
      <p:pic>
        <p:nvPicPr>
          <p:cNvPr id="3" name="Image 0" descr="Alarm krytyczny w SWIMM: człowiek na ławce, prawdopodobne zasłabnięcie, przejęte przez 112, kroki reagowania od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42245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5120640" cy="4224528"/>
          </a:xfrm>
          <a:prstGeom prst="rect">
            <a:avLst/>
          </a:prstGeom>
          <a:ln w="12700">
            <a:solidFill>
              <a:srgbClr val="2C303C"/>
            </a:solidFill>
            <a:prstDash val="solid"/>
          </a:ln>
        </p:spPr>
      </p:sp>
      <p:sp>
        <p:nvSpPr>
          <p:cNvPr id="5" name="alarm-0"/>
          <p:cNvSpPr/>
          <p:nvPr/>
        </p:nvSpPr>
        <p:spPr>
          <a:xfrm>
            <a:off x="6035040" y="1371600"/>
            <a:ext cx="5605272" cy="1298448"/>
          </a:xfrm>
          <a:prstGeom prst="roundRect">
            <a:avLst>
              <a:gd name="adj" fmla="val 8451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63640" y="1700784"/>
            <a:ext cx="640080" cy="64008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0" y="1860804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132320" y="15544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Kamera K18 zgłasza sama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132320" y="1901952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Park przy Tauron Arenie: człowiek na ławce, prawdopodobne zasłabnięcie. Alarm krytyczny z nagraniem klatka po klatce.</a:t>
            </a:r>
            <a:endParaRPr lang="en-US" sz="1200" dirty="0"/>
          </a:p>
        </p:txBody>
      </p:sp>
      <p:sp>
        <p:nvSpPr>
          <p:cNvPr id="10" name="alarm-1"/>
          <p:cNvSpPr/>
          <p:nvPr/>
        </p:nvSpPr>
        <p:spPr>
          <a:xfrm>
            <a:off x="6035040" y="2852928"/>
            <a:ext cx="5605272" cy="1298448"/>
          </a:xfrm>
          <a:prstGeom prst="roundRect">
            <a:avLst>
              <a:gd name="adj" fmla="val 8451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63640" y="3182112"/>
            <a:ext cx="640080" cy="64008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334213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30358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Status zamiast chaosu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132320" y="338328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„Przejęte przez 112 — pogotowie powiadomione”. Miasto nie dubluje wezwania.</a:t>
            </a:r>
            <a:endParaRPr lang="en-US" sz="1200" dirty="0"/>
          </a:p>
        </p:txBody>
      </p:sp>
      <p:sp>
        <p:nvSpPr>
          <p:cNvPr id="15" name="alarm-2"/>
          <p:cNvSpPr/>
          <p:nvPr/>
        </p:nvSpPr>
        <p:spPr>
          <a:xfrm>
            <a:off x="6035040" y="4334256"/>
            <a:ext cx="5605272" cy="1298448"/>
          </a:xfrm>
          <a:prstGeom prst="roundRect">
            <a:avLst>
              <a:gd name="adj" fmla="val 8451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63640" y="4663440"/>
            <a:ext cx="640080" cy="64008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48234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451713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 może zrobić miasto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132320" y="486460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Kroki od AI: patrol Straży Miejskiej z AED, wskazanie dojazdu ratownikom, podgląd kamery, związek z innymi zgłoszeniami w dzielnicy.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035040" y="587044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W demo alarm jest symulowany przyciskiem; rozpoznawanie obrazu to etap walidacji.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Jak to działa i jeden świadomy kompromis</a:t>
            </a:r>
            <a:endParaRPr lang="en-US" sz="3000" dirty="0"/>
          </a:p>
        </p:txBody>
      </p:sp>
      <p:sp>
        <p:nvSpPr>
          <p:cNvPr id="3" name="arch-0"/>
          <p:cNvSpPr/>
          <p:nvPr/>
        </p:nvSpPr>
        <p:spPr>
          <a:xfrm>
            <a:off x="548640" y="1371600"/>
            <a:ext cx="2629586" cy="2148840"/>
          </a:xfrm>
          <a:prstGeom prst="roundRect">
            <a:avLst>
              <a:gd name="adj" fmla="val 5106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600200"/>
            <a:ext cx="1715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Nowe miasto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48840"/>
            <a:ext cx="217238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Skrypt pobiera z OpenStreetMap granicę, dzielnice i osiedla. Drugie miasto (Kielce) — tym samym skryptem.</a:t>
            </a:r>
            <a:endParaRPr lang="en-US" sz="1200" dirty="0"/>
          </a:p>
        </p:txBody>
      </p:sp>
      <p:sp>
        <p:nvSpPr>
          <p:cNvPr id="7" name="arch-1"/>
          <p:cNvSpPr/>
          <p:nvPr/>
        </p:nvSpPr>
        <p:spPr>
          <a:xfrm>
            <a:off x="3370250" y="1371600"/>
            <a:ext cx="2629586" cy="2148840"/>
          </a:xfrm>
          <a:prstGeom prst="roundRect">
            <a:avLst>
              <a:gd name="adj" fmla="val 5106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850" y="1600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01770" y="1600200"/>
            <a:ext cx="1715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Next.js 16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598850" y="2148840"/>
            <a:ext cx="217238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Strona mieszkańca, czat AI (Claude API), panel /centrum, akcje serwera i API zgłoszeń.</a:t>
            </a:r>
            <a:endParaRPr lang="en-US" sz="1200" dirty="0"/>
          </a:p>
        </p:txBody>
      </p:sp>
      <p:sp>
        <p:nvSpPr>
          <p:cNvPr id="11" name="arch-2"/>
          <p:cNvSpPr/>
          <p:nvPr/>
        </p:nvSpPr>
        <p:spPr>
          <a:xfrm>
            <a:off x="6191860" y="1371600"/>
            <a:ext cx="2629586" cy="2148840"/>
          </a:xfrm>
          <a:prstGeom prst="roundRect">
            <a:avLst>
              <a:gd name="adj" fmla="val 5106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60" y="1600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923380" y="1600200"/>
            <a:ext cx="1715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 17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420460" y="2148840"/>
            <a:ext cx="217238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Zgłoszenia, kamery, obiekty. Nowe zgłoszenie: NOTIFY → LISTEN → strumień SSE na żywo.</a:t>
            </a:r>
            <a:endParaRPr lang="en-US" sz="1200" dirty="0"/>
          </a:p>
        </p:txBody>
      </p:sp>
      <p:sp>
        <p:nvSpPr>
          <p:cNvPr id="15" name="arch-3"/>
          <p:cNvSpPr/>
          <p:nvPr/>
        </p:nvSpPr>
        <p:spPr>
          <a:xfrm>
            <a:off x="9013469" y="1371600"/>
            <a:ext cx="2629586" cy="2148840"/>
          </a:xfrm>
          <a:prstGeom prst="roundRect">
            <a:avLst>
              <a:gd name="adj" fmla="val 5106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069" y="16002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744989" y="1600200"/>
            <a:ext cx="1715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Mapa MapLibre GL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9242069" y="2148840"/>
            <a:ext cx="217238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Dzielnice, zgłoszenia, kamery i przepływy zasobów. Działa także bez podkładu mapy.</a:t>
            </a:r>
            <a:endParaRPr lang="en-US" sz="1200" dirty="0"/>
          </a:p>
        </p:txBody>
      </p:sp>
      <p:sp>
        <p:nvSpPr>
          <p:cNvPr id="19" name="tradeoff"/>
          <p:cNvSpPr/>
          <p:nvPr/>
        </p:nvSpPr>
        <p:spPr>
          <a:xfrm>
            <a:off x="548640" y="3794760"/>
            <a:ext cx="11094415" cy="2331720"/>
          </a:xfrm>
          <a:prstGeom prst="roundRect">
            <a:avLst>
              <a:gd name="adj" fmla="val 4706"/>
            </a:avLst>
          </a:prstGeom>
          <a:solidFill>
            <a:srgbClr val="1D1A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686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DECYZJA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868680" y="431596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Priorytet i klasyfikacja na regułach, nie na modelu językowym — w prototypie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</a:rPr>
              <a:t>ZYSK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1937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Przewidywalne, wyjaśnialne i testowalne: 63 testy jednostkowe logiki. Zero kosztu na zgłoszenie.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43484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KOSZT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434840" y="51937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Reguły słabiej rozumieją nietypowe opisy i nowe kategorie.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800100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</a:rPr>
              <a:t>MITYGACJA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8001000" y="51937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Model językowy wchodzi za tym samym interfejsem. Priorytet krytyczny zawsze zatwierdza człowiek.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Co wiemy, co zakładamy i co jeszcze sprawdzimy</a:t>
            </a:r>
            <a:endParaRPr lang="en-US" sz="3000" dirty="0"/>
          </a:p>
        </p:txBody>
      </p:sp>
      <p:sp>
        <p:nvSpPr>
          <p:cNvPr id="3" name="col-0"/>
          <p:cNvSpPr/>
          <p:nvPr/>
        </p:nvSpPr>
        <p:spPr>
          <a:xfrm>
            <a:off x="548640" y="1371600"/>
            <a:ext cx="3533546" cy="3017520"/>
          </a:xfrm>
          <a:prstGeom prst="roundRect">
            <a:avLst>
              <a:gd name="adj" fmla="val 3636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609344"/>
            <a:ext cx="2710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</a:rPr>
              <a:t>WIEMY — DZIAŁA W PROTOTYPIE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57400"/>
            <a:ext cx="312206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Mapa 18 dzielnic Krakowa z OpenStreetMap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Zgłoszenia z bazy na żywo, ranking dzielnic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Planer przekierowań zasobów z wyceną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Alarm z kamery z krokami reagowania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Czat AI dla mieszkańca, drugie miasto</a:t>
            </a:r>
            <a:endParaRPr lang="en-US" sz="1300" dirty="0"/>
          </a:p>
        </p:txBody>
      </p:sp>
      <p:sp>
        <p:nvSpPr>
          <p:cNvPr id="7" name="col-1"/>
          <p:cNvSpPr/>
          <p:nvPr/>
        </p:nvSpPr>
        <p:spPr>
          <a:xfrm>
            <a:off x="4329074" y="1371600"/>
            <a:ext cx="3533546" cy="3017520"/>
          </a:xfrm>
          <a:prstGeom prst="roundRect">
            <a:avLst>
              <a:gd name="adj" fmla="val 3636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674" y="1600200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969154" y="1609344"/>
            <a:ext cx="2710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</a:rPr>
              <a:t>ZAKŁADAMY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57674" y="2057400"/>
            <a:ext cx="312206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Miasto udostępni obraz z kamer i dane z liczników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Mieszkańcy chętniej zgłoszą telefonem i SMS-em niż w aplikacji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Wycena przekierowań jest orientacyjna</a:t>
            </a:r>
            <a:endParaRPr lang="en-US" sz="1300" dirty="0"/>
          </a:p>
        </p:txBody>
      </p:sp>
      <p:sp>
        <p:nvSpPr>
          <p:cNvPr id="11" name="col-2"/>
          <p:cNvSpPr/>
          <p:nvPr/>
        </p:nvSpPr>
        <p:spPr>
          <a:xfrm>
            <a:off x="8109509" y="1371600"/>
            <a:ext cx="3533546" cy="3017520"/>
          </a:xfrm>
          <a:prstGeom prst="roundRect">
            <a:avLst>
              <a:gd name="adj" fmla="val 3636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109" y="160020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49589" y="1609344"/>
            <a:ext cx="2710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</a:rPr>
              <a:t>SPRAWDZIMY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338109" y="2057400"/>
            <a:ext cx="312206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Trafność rozpoznawania obrazu z kamer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RODO i wizerunek w monitoringu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Integracja z systemami jednostek i 112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Wydajność przy tysiącach zgłoszeń dziennie</a:t>
            </a:r>
            <a:endParaRPr lang="en-US" sz="1300" dirty="0"/>
          </a:p>
        </p:txBody>
      </p:sp>
      <p:sp>
        <p:nvSpPr>
          <p:cNvPr id="15" name="risk"/>
          <p:cNvSpPr/>
          <p:nvPr/>
        </p:nvSpPr>
        <p:spPr>
          <a:xfrm>
            <a:off x="548640" y="4617720"/>
            <a:ext cx="11094415" cy="1508760"/>
          </a:xfrm>
          <a:prstGeom prst="roundRect">
            <a:avLst>
              <a:gd name="adj" fmla="val 7273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6868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3F5E"/>
                </a:solidFill>
              </a:rPr>
              <a:t>RYZYKO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" y="51389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źle oceni priorytet zgłoszenia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525780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56616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SKUTEK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3566160" y="51389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Pilna sprawa czeka, spada zaufanie dyspozytorów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525780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26364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</a:rPr>
              <a:t>MITYGACJA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6263640" y="51389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porządkuje i uzasadnia, decyzję podejmuje człowiek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232" y="525780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6112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</a:rPr>
              <a:t>WALIDACJA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8961120" y="51389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Porównanie z decyzjami dyspozytorów na próbce zgłoszeń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Następny krok: pilotaż w jednej dzielnicy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783080"/>
            <a:ext cx="10652760" cy="0"/>
          </a:xfrm>
          <a:prstGeom prst="line">
            <a:avLst/>
          </a:prstGeom>
          <a:noFill/>
          <a:ln w="25400">
            <a:solidFill>
              <a:srgbClr val="2C3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74320" cy="274320"/>
          </a:xfrm>
          <a:prstGeom prst="ellipse">
            <a:avLst/>
          </a:prstGeom>
          <a:solidFill>
            <a:srgbClr val="4ADE80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</a:rPr>
              <a:t>PROTOTYP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teraz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Główna ścieżka działa: zgłoszenie → priorytet → decyzja dyspozytora.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74320" cy="274320"/>
          </a:xfrm>
          <a:prstGeom prst="ellipse">
            <a:avLst/>
          </a:prstGeom>
          <a:solidFill>
            <a:srgbClr val="0F1015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21031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</a:rPr>
              <a:t>WALIDACJA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 miesiąc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43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Rozmowy z dyspozytorami, model językowy do klasyfikacji, kanał telefon/SMS.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74320" cy="274320"/>
          </a:xfrm>
          <a:prstGeom prst="ellipse">
            <a:avLst/>
          </a:prstGeom>
          <a:solidFill>
            <a:srgbClr val="0F1015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1031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</a:rPr>
              <a:t>PILOTAŻ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 miesiące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743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Jedna dzielnica, jedna jednostka (wodociągi). Mierzymy czas reakcji i straty wody.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0" y="1645920"/>
            <a:ext cx="274320" cy="274320"/>
          </a:xfrm>
          <a:prstGeom prst="ellipse">
            <a:avLst/>
          </a:prstGeom>
          <a:solidFill>
            <a:srgbClr val="0F1015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21031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</a:rPr>
              <a:t>WDROŻENIE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dalej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743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Kolejne dzielnice i miasta — onboarding z OpenStreetMap w jeden dzień.</a:t>
            </a:r>
            <a:endParaRPr lang="en-US" sz="1300" dirty="0"/>
          </a:p>
        </p:txBody>
      </p:sp>
      <p:sp>
        <p:nvSpPr>
          <p:cNvPr id="20" name="ask"/>
          <p:cNvSpPr/>
          <p:nvPr/>
        </p:nvSpPr>
        <p:spPr>
          <a:xfrm>
            <a:off x="548640" y="4069080"/>
            <a:ext cx="11094415" cy="2057400"/>
          </a:xfrm>
          <a:prstGeom prst="roundRect">
            <a:avLst>
              <a:gd name="adj" fmla="val 5333"/>
            </a:avLst>
          </a:prstGeom>
          <a:solidFill>
            <a:srgbClr val="1D1A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526280"/>
            <a:ext cx="914400" cy="914400"/>
          </a:xfrm>
          <a:prstGeom prst="ellipse">
            <a:avLst/>
          </a:prstGeom>
          <a:solidFill>
            <a:srgbClr val="26224A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75488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214884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NASZA PROŚBA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148840" y="46634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Pomóżcie nam dotrzeć do urzędu lub dzielnicy, która sprawdzi SWIMM w pilotażu na prawdziwych zgłoszeniach.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2148840" y="5532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Od partnera potrzebujemy: dostępu do zgłoszeń jednej jednostki, danych z liczników i jednego dyspozytora do testów.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Zbudowane na HackYeah — i z czego korzystaliśmy</a:t>
            </a:r>
            <a:endParaRPr lang="en-US" sz="3000" dirty="0"/>
          </a:p>
        </p:txBody>
      </p:sp>
      <p:sp>
        <p:nvSpPr>
          <p:cNvPr id="3" name="tr-0"/>
          <p:cNvSpPr/>
          <p:nvPr/>
        </p:nvSpPr>
        <p:spPr>
          <a:xfrm>
            <a:off x="548640" y="1371600"/>
            <a:ext cx="6766560" cy="1417320"/>
          </a:xfrm>
          <a:prstGeom prst="roundRect">
            <a:avLst>
              <a:gd name="adj" fmla="val 7742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554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Kod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920240"/>
            <a:ext cx="5440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Całość powstała w trakcie HackYeah (3–4.10.2026). Repozytorium: github.com/rtekdev/404-Brain-Not-Found</a:t>
            </a:r>
            <a:endParaRPr lang="en-US" sz="1200" dirty="0"/>
          </a:p>
        </p:txBody>
      </p:sp>
      <p:sp>
        <p:nvSpPr>
          <p:cNvPr id="8" name="tr-1"/>
          <p:cNvSpPr/>
          <p:nvPr/>
        </p:nvSpPr>
        <p:spPr>
          <a:xfrm>
            <a:off x="548640" y="2971800"/>
            <a:ext cx="6766560" cy="1417320"/>
          </a:xfrm>
          <a:prstGeom prst="roundRect">
            <a:avLst>
              <a:gd name="adj" fmla="val 7742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4975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31546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Użycie AI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3520440"/>
            <a:ext cx="5440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Claude Code (Anthropic) — asystent przy kodzie, testach i materiałach. Claude API — czat dla mieszkańca na stronie. Decyzje i architekturę umiemy obronić.</a:t>
            </a:r>
            <a:endParaRPr lang="en-US" sz="1200" dirty="0"/>
          </a:p>
        </p:txBody>
      </p:sp>
      <p:sp>
        <p:nvSpPr>
          <p:cNvPr id="13" name="tr-2"/>
          <p:cNvSpPr/>
          <p:nvPr/>
        </p:nvSpPr>
        <p:spPr>
          <a:xfrm>
            <a:off x="548640" y="4572000"/>
            <a:ext cx="6766560" cy="1417320"/>
          </a:xfrm>
          <a:prstGeom prst="roundRect">
            <a:avLst>
              <a:gd name="adj" fmla="val 7742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1A1C24"/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5097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7548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Dane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5120640"/>
            <a:ext cx="5440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Granice i dzielnice: OpenStreetMap (ODbL). Zgłoszenia, kamery i pomiary: dane pokazowe, fikcyjne.</a:t>
            </a:r>
            <a:endParaRPr lang="en-US" sz="1200" dirty="0"/>
          </a:p>
        </p:txBody>
      </p:sp>
      <p:sp>
        <p:nvSpPr>
          <p:cNvPr id="18" name="stack"/>
          <p:cNvSpPr/>
          <p:nvPr/>
        </p:nvSpPr>
        <p:spPr>
          <a:xfrm>
            <a:off x="7589520" y="1371600"/>
            <a:ext cx="4050792" cy="4617720"/>
          </a:xfrm>
          <a:prstGeom prst="roundRect">
            <a:avLst>
              <a:gd name="adj" fmla="val 2709"/>
            </a:avLst>
          </a:prstGeom>
          <a:solidFill>
            <a:srgbClr val="1A1C24"/>
          </a:solidFill>
          <a:ln w="12700">
            <a:solidFill>
              <a:srgbClr val="2C303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86384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BIBLIOTEKI I USŁUGI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7863840" y="2057400"/>
            <a:ext cx="3566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Next.js 16, React 19, TypeScript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Tailwind CSS 4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MapLibre GL, Turf.js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PostgreSQL 17, node-postgres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CARTO Dark Matter (podkład mapy)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WebCamera.pl (podgląd kamer na żywo)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Anthropic SDK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Vitest, Docker Compose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MM">
  <a:themeElements>
    <a:clrScheme name="SWIMM">
      <a:dk1>
        <a:srgbClr val="ECEEF3"/>
      </a:dk1>
      <a:lt1>
        <a:srgbClr val="0F1015"/>
      </a:lt1>
      <a:dk2>
        <a:srgbClr val="1A1C24"/>
      </a:dk2>
      <a:lt2>
        <a:srgbClr val="9AA0B0"/>
      </a:lt2>
      <a:accent1>
        <a:srgbClr val="8B5CF6"/>
      </a:accent1>
      <a:accent2>
        <a:srgbClr val="22D3EE"/>
      </a:accent2>
      <a:accent3>
        <a:srgbClr val="F43F5E"/>
      </a:accent3>
      <a:accent4>
        <a:srgbClr val="F59E0B"/>
      </a:accent4>
      <a:accent5>
        <a:srgbClr val="A78BFA"/>
      </a:accent5>
      <a:accent6>
        <a:srgbClr val="4ADE80"/>
      </a:accent6>
      <a:hlink>
        <a:srgbClr val="A78BFA"/>
      </a:hlink>
      <a:folHlink>
        <a:srgbClr val="A78BFA"/>
      </a:folHlink>
    </a:clrScheme>
    <a:fontScheme name="SWIMM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HackYeah 2026 — SMART CITY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SWIMM — System Wspierania i Monitorowania Miasta</dc:title>
  <dc:subject>PptxGenJS Presentation</dc:subject>
  <dc:creator>404 Brain Not Found</dc:creator>
  <cp:lastModifiedBy>404 Brain Not Found</cp:lastModifiedBy>
  <cp:revision>1</cp:revision>
  <dcterms:created xsi:type="dcterms:W3CDTF">2026-10-04T01:14:18Z</dcterms:created>
  <dcterms:modified xsi:type="dcterms:W3CDTF">2026-10-04T01:14:18Z</dcterms:modified>
</cp:coreProperties>
</file>